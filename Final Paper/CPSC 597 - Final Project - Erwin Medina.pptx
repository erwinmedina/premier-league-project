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EB Garamon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4F0570-644F-4D09-B706-30F27D45FF28}">
  <a:tblStyle styleId="{274F0570-644F-4D09-B706-30F27D45FF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EBGaramond-bold.fntdata"/><Relationship Id="rId16" Type="http://schemas.openxmlformats.org/officeDocument/2006/relationships/font" Target="fonts/EBGaramond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EBGaramon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BGaramon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c256cf7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c256cf7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3c256cf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3c256cf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3c256cf7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3c256cf7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3c256cf7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3c256cf7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c256cf7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c256cf7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3c256cf7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3c256cf7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3c256cf7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3c256cf7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c256cf7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3c256cf7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bastekforever/complete-football-data-89000-matches-18-leagues/data" TargetMode="External"/><Relationship Id="rId4" Type="http://schemas.openxmlformats.org/officeDocument/2006/relationships/hyperlink" Target="https://www.flashscore.com/match/2DzJMGRA/#/match-summary/match-summary" TargetMode="External"/><Relationship Id="rId5" Type="http://schemas.openxmlformats.org/officeDocument/2006/relationships/hyperlink" Target="https://en.wikipedia.org/wiki/List_of_foreign_Premier_League_players" TargetMode="External"/><Relationship Id="rId6" Type="http://schemas.openxmlformats.org/officeDocument/2006/relationships/hyperlink" Target="https://www.transfermarkt.u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408500" y="914400"/>
            <a:ext cx="6327000" cy="1556100"/>
          </a:xfrm>
          <a:prstGeom prst="roundRect">
            <a:avLst>
              <a:gd fmla="val 16667" name="adj"/>
            </a:avLst>
          </a:prstGeom>
          <a:solidFill>
            <a:srgbClr val="4285F4">
              <a:alpha val="8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Referee Bias and Racial Discrimination </a:t>
            </a:r>
            <a:endParaRPr b="1"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 the English Premier League: </a:t>
            </a:r>
            <a:endParaRPr b="1"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 Machine Learning Analysis</a:t>
            </a:r>
            <a:endParaRPr b="1" sz="20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046050" y="3574775"/>
            <a:ext cx="3051900" cy="1265100"/>
          </a:xfrm>
          <a:prstGeom prst="roundRect">
            <a:avLst>
              <a:gd fmla="val 16667" name="adj"/>
            </a:avLst>
          </a:prstGeom>
          <a:solidFill>
            <a:srgbClr val="4285F4">
              <a:alpha val="95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CPSC 597 - Final Project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Professor Rong Jin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December 9th, 2025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Presented by Erwin Medina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Objective, </a:t>
            </a: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Hypotheses, and Significance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432950" y="11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{274F0570-644F-4D09-B706-30F27D45FF28}</a:tableStyleId>
              </a:tblPr>
              <a:tblGrid>
                <a:gridCol w="1931000"/>
                <a:gridCol w="6468350"/>
              </a:tblGrid>
              <a:tr h="71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Objective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To create a machine learning model that can analyze data and identify statistically significant patterns in referee decision-making.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Hypothesis [1]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Can the model determine who the referee is based on game statistics, and stadium information? [Referee Predictor]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73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Hypothesis [2]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Using the same information, does the model lean on the foreigners being carded as an important feature? [Racial Bias / Discrimination]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70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Hypothesis [3]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Can the model determine if a game was a win/loss/draw with game statistics, referee info, stadium information? [Match Outcome Predictor]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69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Significance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Identifying and evaluating referee biases to ensure fairness and transparency in the sport of football. 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Data Collection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397850" y="129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{274F0570-644F-4D09-B706-30F27D45FF28}</a:tableStyleId>
              </a:tblPr>
              <a:tblGrid>
                <a:gridCol w="2249250"/>
                <a:gridCol w="3872575"/>
                <a:gridCol w="2312600"/>
              </a:tblGrid>
              <a:tr h="33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Dataset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Description/Summary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Sources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8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[1]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Incident Reports Per Match + Statistics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Found existing csv dataset that had information on players who received yellow/red cards, goals scored, penalties scored/missed, along with their timestamps.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Dataset contained statistical data: final score, possession %, shots, free kicks, fouls, and much more.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Date Range: [2002-2022]</a:t>
                      </a:r>
                      <a:endParaRPr sz="1200">
                        <a:solidFill>
                          <a:srgbClr val="FF0000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 u="sng">
                          <a:solidFill>
                            <a:schemeClr val="accent5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Link to Kaggle Dataset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 u="sng">
                          <a:solidFill>
                            <a:schemeClr val="accent5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Match Report Example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80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[2]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Foreign Player Names + Nationalities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Collected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foreign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players only, along with nationalities.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All referees were English, so I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only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needed non-English players for racial discrimination analysis.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 u="sng">
                          <a:solidFill>
                            <a:schemeClr val="accent5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Wikipedia Link to Foreign Players Dataset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60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[3]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Referee Names + Birth Cities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Collected referee names, nationality, and city of birth.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2921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EB Garamond"/>
                        <a:buChar char="-"/>
                      </a:pPr>
                      <a:r>
                        <a:rPr lang="en" sz="1200" u="sng">
                          <a:solidFill>
                            <a:schemeClr val="accent5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TransferMarkt.us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2921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Google</a:t>
                      </a:r>
                      <a:endParaRPr sz="10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363650" y="108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{274F0570-644F-4D09-B706-30F27D45FF28}</a:tableStyleId>
              </a:tblPr>
              <a:tblGrid>
                <a:gridCol w="1934625"/>
                <a:gridCol w="6585975"/>
              </a:tblGrid>
              <a:tr h="33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Dataset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Summary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104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[1] Incident Reports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Recollected all of the incident reports due to language issues.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Recollected all game statistics due to inconsistencies.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Dropped 2002-2008 years due to missing referee info.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Collected missing years [2023-2025] to make dataset more complete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Used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this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 as the ‘master’ dataset [“source of truth”]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  <a:tr h="181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[2] Player Info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Incident report = “LastName FirstInitial” [Ex: Calafiori R.]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Player Info Dataset has full player name.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Nicknames, singular names, or multiple names made normalization difficult.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Fuzzy match not helpful [Martinez A. vs Martinez L.]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Non-English Alphabet [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Luděk Mikloško (Player Dataset) → Miklosko L. (Incident Report)]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More than 2 names [Sepp van den Berg (Player Dataset) → Berg van den S. (Incident Report)]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4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[3] Referee Info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-30480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EB Garamond"/>
                        <a:buChar char="-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Straightforward; none needed.</a:t>
                      </a:r>
                      <a:endParaRPr sz="12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Data Cleaning/Normalization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74" name="Google Shape;74;p16"/>
          <p:cNvGrpSpPr/>
          <p:nvPr/>
        </p:nvGrpSpPr>
        <p:grpSpPr>
          <a:xfrm>
            <a:off x="2634675" y="3856425"/>
            <a:ext cx="3755000" cy="459300"/>
            <a:chOff x="3955875" y="3411950"/>
            <a:chExt cx="3755000" cy="459300"/>
          </a:xfrm>
        </p:grpSpPr>
        <p:sp>
          <p:nvSpPr>
            <p:cNvPr id="75" name="Google Shape;75;p16"/>
            <p:cNvSpPr/>
            <p:nvPr/>
          </p:nvSpPr>
          <p:spPr>
            <a:xfrm>
              <a:off x="3955875" y="3411950"/>
              <a:ext cx="1109100" cy="459300"/>
            </a:xfrm>
            <a:prstGeom prst="roundRect">
              <a:avLst>
                <a:gd fmla="val 16667" name="adj"/>
              </a:avLst>
            </a:prstGeom>
            <a:solidFill>
              <a:srgbClr val="4285F4">
                <a:alpha val="70000"/>
              </a:srgbClr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Incident Report:</a:t>
              </a:r>
              <a:br>
                <a:rPr lang="en" sz="900">
                  <a:solidFill>
                    <a:schemeClr val="dk1"/>
                  </a:solidFill>
                </a:rPr>
              </a:br>
              <a:r>
                <a:rPr lang="en" sz="900">
                  <a:solidFill>
                    <a:schemeClr val="dk1"/>
                  </a:solidFill>
                </a:rPr>
                <a:t>Hulk</a:t>
              </a:r>
              <a:br>
                <a:rPr lang="en" sz="900">
                  <a:solidFill>
                    <a:schemeClr val="dk1"/>
                  </a:solidFill>
                </a:rPr>
              </a:br>
              <a:r>
                <a:rPr lang="en" sz="900">
                  <a:solidFill>
                    <a:schemeClr val="dk1"/>
                  </a:solidFill>
                </a:rPr>
                <a:t>Messi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5780975" y="3411950"/>
              <a:ext cx="1929900" cy="459300"/>
            </a:xfrm>
            <a:prstGeom prst="roundRect">
              <a:avLst>
                <a:gd fmla="val 16667" name="adj"/>
              </a:avLst>
            </a:prstGeom>
            <a:solidFill>
              <a:srgbClr val="4285F4">
                <a:alpha val="70000"/>
              </a:srgbClr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chemeClr val="dk1"/>
                  </a:solidFill>
                </a:rPr>
                <a:t>Player Name Dataset:</a:t>
              </a:r>
              <a:br>
                <a:rPr lang="en" sz="900">
                  <a:solidFill>
                    <a:schemeClr val="dk1"/>
                  </a:solidFill>
                </a:rPr>
              </a:br>
              <a:r>
                <a:rPr lang="en" sz="900">
                  <a:solidFill>
                    <a:schemeClr val="dk1"/>
                  </a:solidFill>
                </a:rPr>
                <a:t>Givanildo Vieira de Sousa</a:t>
              </a:r>
              <a:br>
                <a:rPr lang="en" sz="900">
                  <a:solidFill>
                    <a:schemeClr val="dk1"/>
                  </a:solidFill>
                </a:rPr>
              </a:br>
              <a:r>
                <a:rPr lang="en" sz="900">
                  <a:solidFill>
                    <a:schemeClr val="dk1"/>
                  </a:solidFill>
                </a:rPr>
                <a:t>Lionel Messi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5152225" y="3536700"/>
              <a:ext cx="532800" cy="20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" name="Google Shape;78;p16"/>
            <p:cNvCxnSpPr/>
            <p:nvPr/>
          </p:nvCxnSpPr>
          <p:spPr>
            <a:xfrm flipH="1">
              <a:off x="5204600" y="3501900"/>
              <a:ext cx="345000" cy="2706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Examples of Datasets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4" name="Google Shape;84;p17" title="Screenshot 2025-11-12 at 12.02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89725"/>
            <a:ext cx="3997825" cy="2920875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7" title="Screenshot 2025-11-12 at 1.01.3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225" y="1130475"/>
            <a:ext cx="4232274" cy="1695725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" name="Google Shape;86;p17" title="Screenshot 2025-11-12 at 1.04.2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225" y="3637625"/>
            <a:ext cx="4232274" cy="131457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/>
          <p:nvPr/>
        </p:nvSpPr>
        <p:spPr>
          <a:xfrm>
            <a:off x="311700" y="1147250"/>
            <a:ext cx="3997800" cy="315000"/>
          </a:xfrm>
          <a:prstGeom prst="roundRect">
            <a:avLst>
              <a:gd fmla="val 16667" name="adj"/>
            </a:avLst>
          </a:prstGeom>
          <a:solidFill>
            <a:srgbClr val="4285F4">
              <a:alpha val="8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Incident Report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534125" y="692800"/>
            <a:ext cx="4232400" cy="315000"/>
          </a:xfrm>
          <a:prstGeom prst="roundRect">
            <a:avLst>
              <a:gd fmla="val 16667" name="adj"/>
            </a:avLst>
          </a:prstGeom>
          <a:solidFill>
            <a:srgbClr val="4285F4">
              <a:alpha val="8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Player Info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534125" y="3206800"/>
            <a:ext cx="4232400" cy="315000"/>
          </a:xfrm>
          <a:prstGeom prst="roundRect">
            <a:avLst>
              <a:gd fmla="val 16667" name="adj"/>
            </a:avLst>
          </a:prstGeom>
          <a:solidFill>
            <a:srgbClr val="4285F4">
              <a:alpha val="8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Referee Info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Model Pipeline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17725"/>
            <a:ext cx="5109000" cy="3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i="1"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Using Scikit-Learn</a:t>
            </a:r>
            <a:endParaRPr b="1" i="1"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[01]</a:t>
            </a: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Load the Data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rgbClr val="F1C232"/>
                </a:solidFill>
                <a:latin typeface="EB Garamond"/>
                <a:ea typeface="EB Garamond"/>
                <a:cs typeface="EB Garamond"/>
                <a:sym typeface="EB Garamond"/>
              </a:rPr>
              <a:t>[02]</a:t>
            </a: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n" sz="1560">
                <a:solidFill>
                  <a:srgbClr val="F1C232"/>
                </a:solidFill>
                <a:latin typeface="EB Garamond"/>
                <a:ea typeface="EB Garamond"/>
                <a:cs typeface="EB Garamond"/>
                <a:sym typeface="EB Garamond"/>
              </a:rPr>
              <a:t>Define Targets and Features</a:t>
            </a:r>
            <a:endParaRPr sz="1560">
              <a:solidFill>
                <a:srgbClr val="F1C23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[03] Label Encode Target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[04] One-Hot Encode Key Categorical Columns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[05] Impute and Scale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[06] Split Train/Test [80/20]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[07] Train Random Forest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[08] Evaluate Performance [Feature Importance]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[09] Visualizations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70"/>
              <a:buNone/>
            </a:pPr>
            <a:r>
              <a:rPr lang="en" sz="156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[10] Multiple Models [Regression, Decision Tree, Gradient Boosting, SVM]</a:t>
            </a:r>
            <a:endParaRPr sz="156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6" name="Google Shape;96;p18" title="Screenshot 2025-12-03 at 5.15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59257">
            <a:off x="4026475" y="370089"/>
            <a:ext cx="4368971" cy="120745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8" title="Screenshot 2025-12-03 at 5.19.1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394" y="1349294"/>
            <a:ext cx="2998450" cy="24449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8" title="Screenshot 2025-12-03 at 5.17.0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449347">
            <a:off x="5994275" y="2990850"/>
            <a:ext cx="2675811" cy="161922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5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Initial Results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54175" y="615825"/>
            <a:ext cx="5444400" cy="15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-"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Started strong; model was predicting referees, some referees had 100% accuracy. 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-"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Data leakage with NearestMajorCity (Referee Birth City) feature.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-"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Fix dramatically reduced accuracy.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435950" y="761964"/>
            <a:ext cx="2646951" cy="3806181"/>
            <a:chOff x="435950" y="1083412"/>
            <a:chExt cx="2646951" cy="3484876"/>
          </a:xfrm>
        </p:grpSpPr>
        <p:pic>
          <p:nvPicPr>
            <p:cNvPr id="106" name="Google Shape;106;p19" title="Screenshot 2025-12-01 at 6.58.49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5950" y="1083412"/>
              <a:ext cx="2646951" cy="3484876"/>
            </a:xfrm>
            <a:prstGeom prst="rect">
              <a:avLst/>
            </a:prstGeom>
            <a:noFill/>
            <a:ln cap="flat" cmpd="sng" w="1905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7" name="Google Shape;107;p19"/>
            <p:cNvSpPr/>
            <p:nvPr/>
          </p:nvSpPr>
          <p:spPr>
            <a:xfrm>
              <a:off x="632275" y="4218525"/>
              <a:ext cx="1755300" cy="1173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923800" y="1576425"/>
              <a:ext cx="1499400" cy="1173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923800" y="2044025"/>
              <a:ext cx="1499400" cy="2040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0" name="Google Shape;110;p19" title="Screenshot 2025-12-01 at 7.01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625" y="2294625"/>
            <a:ext cx="2918900" cy="2273525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299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Final Results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6" name="Google Shape;116;p20" title="Screenshot 2025-11-12 at 1.33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00" y="1556375"/>
            <a:ext cx="3217724" cy="197825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0"/>
          <p:cNvSpPr/>
          <p:nvPr/>
        </p:nvSpPr>
        <p:spPr>
          <a:xfrm>
            <a:off x="152100" y="1126400"/>
            <a:ext cx="3217800" cy="280200"/>
          </a:xfrm>
          <a:prstGeom prst="roundRect">
            <a:avLst>
              <a:gd fmla="val 16667" name="adj"/>
            </a:avLst>
          </a:prstGeom>
          <a:solidFill>
            <a:srgbClr val="4285F4">
              <a:alpha val="7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Referee Predictor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8" name="Google Shape;118;p20" title="Screenshot 2025-11-12 at 1.34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6938" y="1556375"/>
            <a:ext cx="3328086" cy="197825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20"/>
          <p:cNvSpPr/>
          <p:nvPr/>
        </p:nvSpPr>
        <p:spPr>
          <a:xfrm>
            <a:off x="3516900" y="1126400"/>
            <a:ext cx="3328200" cy="280200"/>
          </a:xfrm>
          <a:prstGeom prst="roundRect">
            <a:avLst>
              <a:gd fmla="val 16667" name="adj"/>
            </a:avLst>
          </a:prstGeom>
          <a:solidFill>
            <a:srgbClr val="4285F4">
              <a:alpha val="7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Match Outcome Predictor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20" name="Google Shape;120;p20" title="Screenshot 2025-11-12 at 3.07.0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2125" y="1803850"/>
            <a:ext cx="1999688" cy="173077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20"/>
          <p:cNvSpPr/>
          <p:nvPr/>
        </p:nvSpPr>
        <p:spPr>
          <a:xfrm>
            <a:off x="6992100" y="1358975"/>
            <a:ext cx="1999800" cy="280200"/>
          </a:xfrm>
          <a:prstGeom prst="roundRect">
            <a:avLst>
              <a:gd fmla="val 16667" name="adj"/>
            </a:avLst>
          </a:prstGeom>
          <a:solidFill>
            <a:srgbClr val="4285F4">
              <a:alpha val="7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Racial Bias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721950" y="3844625"/>
            <a:ext cx="2078100" cy="995700"/>
          </a:xfrm>
          <a:prstGeom prst="roundRect">
            <a:avLst>
              <a:gd fmla="val 16667" name="adj"/>
            </a:avLst>
          </a:prstGeom>
          <a:solidFill>
            <a:srgbClr val="4285F4">
              <a:alpha val="7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Random Forest - </a:t>
            </a:r>
            <a:b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F1-Score Average Accuracy: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~ .22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4141950" y="3844625"/>
            <a:ext cx="2078100" cy="995700"/>
          </a:xfrm>
          <a:prstGeom prst="roundRect">
            <a:avLst>
              <a:gd fmla="val 16667" name="adj"/>
            </a:avLst>
          </a:prstGeom>
          <a:solidFill>
            <a:srgbClr val="4285F4">
              <a:alpha val="7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Random Forest - </a:t>
            </a:r>
            <a:b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F1-Score Average Accuracy:</a:t>
            </a:r>
            <a:endParaRPr b="1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~ .51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6952925" y="3844625"/>
            <a:ext cx="2078100" cy="995700"/>
          </a:xfrm>
          <a:prstGeom prst="roundRect">
            <a:avLst>
              <a:gd fmla="val 16667" name="adj"/>
            </a:avLst>
          </a:prstGeom>
          <a:solidFill>
            <a:srgbClr val="4285F4">
              <a:alpha val="7000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Feature Importance:</a:t>
            </a:r>
            <a:b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Not Statistically Significant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248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B Garamond"/>
                <a:ea typeface="EB Garamond"/>
                <a:cs typeface="EB Garamond"/>
                <a:sym typeface="EB Garamond"/>
              </a:rPr>
              <a:t>Interpretation &amp; Conclusion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3438800"/>
            <a:ext cx="8520600" cy="11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-"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Results show that patterns did not emerge from the features and scale of data that I used.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-"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However, this does not rule out the existence of meaningful patterns.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-"/>
            </a:pPr>
            <a:r>
              <a:rPr lang="en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Perhaps deeper, richer, more granular inputs/data could provide better results.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31" name="Google Shape;131;p21"/>
          <p:cNvGraphicFramePr/>
          <p:nvPr/>
        </p:nvGraphicFramePr>
        <p:xfrm>
          <a:off x="2282263" y="108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{274F0570-644F-4D09-B706-30F27D45FF28}</a:tableStyleId>
              </a:tblPr>
              <a:tblGrid>
                <a:gridCol w="2436675"/>
                <a:gridCol w="2114800"/>
              </a:tblGrid>
              <a:tr h="46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Hypothesis</a:t>
                      </a:r>
                      <a:endParaRPr b="1" sz="16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Conclusion</a:t>
                      </a:r>
                      <a:endParaRPr b="1" sz="1600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Referee Prediction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❌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Match Outcome Prediction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❌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Foreign Player Discrimination/Racial Bias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❌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